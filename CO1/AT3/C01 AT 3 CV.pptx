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7" r:id="rId3"/>
    <p:sldId id="259" r:id="rId4"/>
    <p:sldId id="269" r:id="rId5"/>
    <p:sldId id="258" r:id="rId6"/>
    <p:sldId id="273" r:id="rId7"/>
    <p:sldId id="261" r:id="rId8"/>
    <p:sldId id="262" r:id="rId9"/>
    <p:sldId id="265" r:id="rId10"/>
    <p:sldId id="266" r:id="rId11"/>
    <p:sldId id="267" r:id="rId12"/>
    <p:sldId id="268" r:id="rId13"/>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44" userDrawn="1">
          <p15:clr>
            <a:srgbClr val="A4A3A4"/>
          </p15:clr>
        </p15:guide>
      </p15:sldGuideLst>
    </p:ext>
    <p:ext uri="{2D200454-40CA-4A62-9FC3-DE9A4176ACB9}">
      <p15:notesGuideLst xmlns:p15="http://schemas.microsoft.com/office/powerpoint/2012/main">
        <p15:guide id="1" orient="horz" pos="2880">
          <p15:clr>
            <a:srgbClr val="A4A3A4"/>
          </p15:clr>
        </p15:guide>
        <p15:guide id="2" pos="159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34587" autoAdjust="0"/>
    <p:restoredTop sz="86378" autoAdjust="0"/>
  </p:normalViewPr>
  <p:slideViewPr>
    <p:cSldViewPr snapToGrid="0" snapToObjects="1" showGuides="1">
      <p:cViewPr varScale="1">
        <p:scale>
          <a:sx n="109" d="100"/>
          <a:sy n="109" d="100"/>
        </p:scale>
        <p:origin x="1219" y="82"/>
      </p:cViewPr>
      <p:guideLst>
        <p:guide orient="horz" pos="1620"/>
        <p:guide pos="284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5" d="100"/>
          <a:sy n="75" d="100"/>
        </p:scale>
        <p:origin x="-3346" y="-72"/>
      </p:cViewPr>
      <p:guideLst>
        <p:guide orient="horz" pos="2880"/>
        <p:guide pos="159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https://ae01.alicdn.com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https://www.build-electronic-circuits.com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https://thumbs.dreamstime.com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https://www.slidemake.com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https://teachingwriting.stanford.edu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https://img.electronicdesign.com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https://i1.wp.com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2700" y="0"/>
            <a:ext cx="9173370" cy="514216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127DEEDD-21BB-47E7-9586-8D8CBE4E2385}"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a:xfrm>
            <a:off x="2019298" y="3778247"/>
            <a:ext cx="3910976" cy="20955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a:xfrm>
            <a:off x="6717676" y="3778247"/>
            <a:ext cx="413375" cy="20955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EB2F9E-C9E0-4EA3-A9E2-0DF5F691060E}"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2019299" y="2641598"/>
            <a:ext cx="5111751"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A7AE056-E91C-4F84-BAD6-96EF71B921FE}"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3EF51AE-A3EC-4B5C-BBEE-5BE19F0C3DE2}"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6" name="Straight Connector 15"/>
          <p:cNvCxnSpPr/>
          <p:nvPr/>
        </p:nvCxnSpPr>
        <p:spPr>
          <a:xfrm>
            <a:off x="1509542" y="2782939"/>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551B092-A2AF-4010-BE70-8179EC9A76A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spcBef>
                <a:spcPts val="505"/>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spcBef>
                <a:spcPts val="505"/>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4D5A4D6-2F3E-4AB3-9AAD-F86FA4EC764A}"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8" name="Straight Connector 1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1E66CEF-9313-493D-BEA7-2A0502D264C9}"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1E317F6-10D5-42F4-B923-70E953D3BE3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306C9CC-318C-4E70-91C2-BF570ACECC17}"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6" name="Straight Connector 15"/>
          <p:cNvCxnSpPr/>
          <p:nvPr/>
        </p:nvCxnSpPr>
        <p:spPr>
          <a:xfrm>
            <a:off x="1047127" y="2184400"/>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61C43A1E-86A2-4906-915B-B8948254E49F}"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3CBE081-D5C9-4A7B-9DD3-C94672E13DC0}"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F49C7BF-8F33-40E1-812C-FF531E0DDC2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0A88584-667A-4259-BFBF-A94EDBF130A5}"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EE4C1AE-E74F-43DA-A6FD-DEBB92BB6EFF}"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B959E1D-07A2-424D-9F84-A8007D176C56}"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2F99FFF-5ADB-47B1-9372-435859E07032}"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DE19873-A706-45F1-9AAD-6004FE125DC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202F7F3-D792-441E-AF10-15B593449578}"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6647918" y="742950"/>
            <a:ext cx="0" cy="36576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F5A71B3-99A7-4C14-A482-14D54FB923BE}" type="datetime6">
              <a:rPr lang="en-US" smtClean="0"/>
              <a:t>August 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5142161"/>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38DF114-BE6D-437F-A234-070E189FE2EA}"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August 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630" indent="-214630" algn="l" defTabSz="342900" rtl="0" eaLnBrk="1" latinLnBrk="0" hangingPunct="1">
        <a:spcBef>
          <a:spcPct val="20000"/>
        </a:spcBef>
        <a:spcAft>
          <a:spcPts val="45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1pPr>
      <a:lvl2pPr marL="557530" indent="-214630" algn="l" defTabSz="342900" rtl="0" eaLnBrk="1" latinLnBrk="0" hangingPunct="1">
        <a:spcBef>
          <a:spcPct val="20000"/>
        </a:spcBef>
        <a:spcAft>
          <a:spcPts val="450"/>
        </a:spcAft>
        <a:buClr>
          <a:schemeClr val="accent1"/>
        </a:buClr>
        <a:buSzPct val="115000"/>
        <a:buFont typeface="Arial" panose="020B0604020202020204"/>
        <a:buChar char="•"/>
        <a:defRPr sz="1500" kern="1200" cap="none">
          <a:solidFill>
            <a:schemeClr val="tx1">
              <a:lumMod val="85000"/>
              <a:lumOff val="15000"/>
            </a:schemeClr>
          </a:solidFill>
          <a:effectLst/>
          <a:latin typeface="+mn-lt"/>
          <a:ea typeface="+mn-ea"/>
          <a:cs typeface="+mn-cs"/>
        </a:defRPr>
      </a:lvl2pPr>
      <a:lvl3pPr marL="900430" indent="-214630" algn="l" defTabSz="342900" rtl="0" eaLnBrk="1" latinLnBrk="0" hangingPunct="1">
        <a:spcBef>
          <a:spcPct val="20000"/>
        </a:spcBef>
        <a:spcAft>
          <a:spcPts val="450"/>
        </a:spcAft>
        <a:buClr>
          <a:schemeClr val="accent1"/>
        </a:buClr>
        <a:buSzPct val="115000"/>
        <a:buFont typeface="Arial" panose="020B0604020202020204"/>
        <a:buChar char="•"/>
        <a:defRPr sz="1350" kern="1200" cap="none">
          <a:solidFill>
            <a:schemeClr val="tx1">
              <a:lumMod val="85000"/>
              <a:lumOff val="15000"/>
            </a:schemeClr>
          </a:solidFill>
          <a:effectLst/>
          <a:latin typeface="+mn-lt"/>
          <a:ea typeface="+mn-ea"/>
          <a:cs typeface="+mn-cs"/>
        </a:defRPr>
      </a:lvl3pPr>
      <a:lvl4pPr marL="1157605" indent="-128905" algn="l" defTabSz="342900" rtl="0" eaLnBrk="1" latinLnBrk="0" hangingPunct="1">
        <a:spcBef>
          <a:spcPct val="20000"/>
        </a:spcBef>
        <a:spcAft>
          <a:spcPts val="450"/>
        </a:spcAft>
        <a:buClr>
          <a:schemeClr val="accent1"/>
        </a:buClr>
        <a:buSzPct val="115000"/>
        <a:buFont typeface="Arial" panose="020B0604020202020204"/>
        <a:buChar char="•"/>
        <a:defRPr sz="1200" kern="1200" cap="none">
          <a:solidFill>
            <a:schemeClr val="tx1">
              <a:lumMod val="85000"/>
              <a:lumOff val="15000"/>
            </a:schemeClr>
          </a:solidFill>
          <a:effectLst/>
          <a:latin typeface="+mn-lt"/>
          <a:ea typeface="+mn-ea"/>
          <a:cs typeface="+mn-cs"/>
        </a:defRPr>
      </a:lvl4pPr>
      <a:lvl5pPr marL="1500505" indent="-128905"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8.xml"/><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12.jpe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13471" y="1803079"/>
            <a:ext cx="8229600" cy="935516"/>
          </a:xfrm>
          <a:prstGeom prst="rect">
            <a:avLst/>
          </a:prstGeom>
          <a:noFill/>
        </p:spPr>
        <p:txBody>
          <a:bodyPr wrap="square" rtlCol="0" anchor="ctr"/>
          <a:lstStyle/>
          <a:p>
            <a:pPr algn="ctr"/>
            <a:endParaRPr lang="en-US" sz="2400" b="1" u="sng" dirty="0">
              <a:solidFill>
                <a:srgbClr val="00206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471" y="541460"/>
            <a:ext cx="8110024" cy="1125415"/>
          </a:xfrm>
          <a:prstGeom prst="rect">
            <a:avLst/>
          </a:prstGeom>
        </p:spPr>
      </p:pic>
      <p:sp>
        <p:nvSpPr>
          <p:cNvPr id="9" name="TextBox 8"/>
          <p:cNvSpPr txBox="1"/>
          <p:nvPr/>
        </p:nvSpPr>
        <p:spPr>
          <a:xfrm>
            <a:off x="4688058" y="3589118"/>
            <a:ext cx="4586068" cy="786754"/>
          </a:xfrm>
          <a:prstGeom prst="rect">
            <a:avLst/>
          </a:prstGeom>
          <a:noFill/>
        </p:spPr>
        <p:txBody>
          <a:bodyPr wrap="square">
            <a:spAutoFit/>
          </a:bodyPr>
          <a:lstStyle/>
          <a:p>
            <a:pPr algn="ctr">
              <a:lnSpc>
                <a:spcPct val="150000"/>
              </a:lnSpc>
            </a:pPr>
            <a:r>
              <a:rPr lang="en-IN" sz="1600" b="1" dirty="0">
                <a:latin typeface="Times New Roman" panose="02020603050405020304" pitchFamily="18" charset="0"/>
                <a:cs typeface="Times New Roman" panose="02020603050405020304" pitchFamily="18" charset="0"/>
              </a:rPr>
              <a:t>PRESENTED BY</a:t>
            </a:r>
          </a:p>
          <a:p>
            <a:pPr algn="ctr">
              <a:lnSpc>
                <a:spcPct val="150000"/>
              </a:lnSpc>
            </a:pPr>
            <a:r>
              <a:rPr lang="en-US" sz="1600" b="1" dirty="0">
                <a:latin typeface="Times New Roman" panose="02020603050405020304" pitchFamily="18" charset="0"/>
                <a:cs typeface="Times New Roman" panose="02020603050405020304" pitchFamily="18" charset="0"/>
              </a:rPr>
              <a:t>K. PRAVALLIKA(192312338)</a:t>
            </a:r>
            <a:r>
              <a:rPr lang="en-IN" altLang="en-US" sz="1600" b="1" dirty="0">
                <a:latin typeface="Times New Roman" panose="02020603050405020304" pitchFamily="18" charset="0"/>
                <a:cs typeface="Times New Roman" panose="02020603050405020304" pitchFamily="18" charset="0"/>
              </a:rPr>
              <a:t>-ECE</a:t>
            </a:r>
            <a:endParaRPr lang="en-IN" sz="16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513472" y="3965119"/>
            <a:ext cx="2978946" cy="584775"/>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Guided by</a:t>
            </a:r>
          </a:p>
          <a:p>
            <a:r>
              <a:rPr lang="en-IN" sz="1600" b="1" dirty="0">
                <a:latin typeface="Times New Roman" panose="02020603050405020304" pitchFamily="18" charset="0"/>
                <a:cs typeface="Times New Roman" panose="02020603050405020304" pitchFamily="18" charset="0"/>
              </a:rPr>
              <a:t>Dr.T.M.USHA</a:t>
            </a:r>
          </a:p>
        </p:txBody>
      </p:sp>
      <p:sp>
        <p:nvSpPr>
          <p:cNvPr id="13" name="TextBox 12"/>
          <p:cNvSpPr txBox="1"/>
          <p:nvPr/>
        </p:nvSpPr>
        <p:spPr>
          <a:xfrm>
            <a:off x="559192" y="3060284"/>
            <a:ext cx="4874454" cy="523220"/>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COURSE CODE:ITA0518-COMPUTER VISION</a:t>
            </a:r>
          </a:p>
          <a:p>
            <a:endParaRPr lang="en-IN" sz="1400" b="1" dirty="0">
              <a:latin typeface="Times New Roman" panose="02020603050405020304" pitchFamily="18" charset="0"/>
              <a:cs typeface="Times New Roman" panose="02020603050405020304" pitchFamily="18" charset="0"/>
            </a:endParaRPr>
          </a:p>
        </p:txBody>
      </p:sp>
      <p:graphicFrame>
        <p:nvGraphicFramePr>
          <p:cNvPr id="3" name="Table 2"/>
          <p:cNvGraphicFramePr/>
          <p:nvPr>
            <p:extLst>
              <p:ext uri="{D42A27DB-BD31-4B8C-83A1-F6EECF244321}">
                <p14:modId xmlns:p14="http://schemas.microsoft.com/office/powerpoint/2010/main" val="2318623933"/>
              </p:ext>
            </p:extLst>
          </p:nvPr>
        </p:nvGraphicFramePr>
        <p:xfrm>
          <a:off x="1385667" y="1816100"/>
          <a:ext cx="6689187" cy="1244184"/>
        </p:xfrm>
        <a:graphic>
          <a:graphicData uri="http://schemas.openxmlformats.org/drawingml/2006/table">
            <a:tbl>
              <a:tblPr/>
              <a:tblGrid>
                <a:gridCol w="6689187">
                  <a:extLst>
                    <a:ext uri="{9D8B030D-6E8A-4147-A177-3AD203B41FA5}">
                      <a16:colId xmlns:a16="http://schemas.microsoft.com/office/drawing/2014/main" val="20000"/>
                    </a:ext>
                  </a:extLst>
                </a:gridCol>
              </a:tblGrid>
              <a:tr h="1244184">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altLang="en-US" sz="2000" b="1" dirty="0">
                          <a:latin typeface="Times New Roman" panose="02020603050405020304" pitchFamily="18" charset="0"/>
                          <a:cs typeface="Times New Roman" panose="02020603050405020304" pitchFamily="18" charset="0"/>
                        </a:rPr>
                        <a:t> </a:t>
                      </a:r>
                      <a:r>
                        <a:rPr lang="en-IN" altLang="en-US"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I</a:t>
                      </a: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nteractions between stages of the Computer Vision pipeline, identifying dependencies and presenting them using integrated visual frameworks.</a:t>
                      </a:r>
                    </a:p>
                    <a:p>
                      <a:pPr algn="ctr"/>
                      <a:endParaRPr lang="en-US" altLang="en-US" sz="2000" b="1" dirty="0">
                        <a:latin typeface="Times New Roman" panose="02020603050405020304" pitchFamily="18" charset="0"/>
                        <a:cs typeface="Times New Roman" panose="02020603050405020304" pitchFamily="18" charset="0"/>
                      </a:endParaRPr>
                    </a:p>
                  </a:txBody>
                  <a:tcPr marL="23177" marR="23177" marT="15557" marB="15557" anchor="ctr">
                    <a:lnL w="7620" cap="flat" cmpd="sng">
                      <a:solidFill>
                        <a:srgbClr val="FFFFFF"/>
                      </a:solidFill>
                      <a:prstDash val="solid"/>
                      <a:headEnd type="none" w="med" len="med"/>
                      <a:tailEnd type="none" w="med" len="med"/>
                    </a:lnL>
                    <a:lnR w="7620" cap="flat" cmpd="sng">
                      <a:solidFill>
                        <a:srgbClr val="FFFFFF"/>
                      </a:solidFill>
                      <a:prstDash val="solid"/>
                      <a:headEnd type="none" w="med" len="med"/>
                      <a:tailEnd type="none" w="med" len="med"/>
                    </a:lnR>
                    <a:lnT w="7620" cap="flat" cmpd="sng">
                      <a:solidFill>
                        <a:srgbClr val="FFFFFF"/>
                      </a:solidFill>
                      <a:prstDash val="solid"/>
                      <a:headEnd type="none" w="med" len="med"/>
                      <a:tailEnd type="none" w="med" len="med"/>
                    </a:lnT>
                    <a:lnB w="7620" cap="flat" cmpd="sng">
                      <a:solidFill>
                        <a:srgbClr val="FFFFFF"/>
                      </a:solidFill>
                      <a:prstDash val="solid"/>
                      <a:headEnd type="none" w="med" len="med"/>
                      <a:tailEnd type="none" w="med" len="med"/>
                    </a:lnB>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39174" y="381196"/>
            <a:ext cx="8229600" cy="822960"/>
          </a:xfrm>
          <a:prstGeom prst="rect">
            <a:avLst/>
          </a:prstGeom>
          <a:noFill/>
        </p:spPr>
        <p:txBody>
          <a:bodyPr wrap="square" rtlCol="0" anchor="ctr"/>
          <a:lstStyle/>
          <a:p>
            <a:pPr algn="ctr"/>
            <a:r>
              <a:rPr lang="en-US" sz="3600" b="1" dirty="0">
                <a:latin typeface="Times New Roman" panose="02020603050405020304" pitchFamily="18" charset="0"/>
                <a:ea typeface="Optima" pitchFamily="34" charset="-122"/>
                <a:cs typeface="Times New Roman" panose="02020603050405020304" pitchFamily="18" charset="0"/>
              </a:rPr>
              <a:t>Introduction</a:t>
            </a:r>
            <a:endParaRPr lang="en-US" sz="3600" b="1" dirty="0">
              <a:latin typeface="Times New Roman" panose="02020603050405020304" pitchFamily="18" charset="0"/>
              <a:cs typeface="Times New Roman" panose="02020603050405020304" pitchFamily="18" charset="0"/>
            </a:endParaRPr>
          </a:p>
        </p:txBody>
      </p:sp>
      <p:sp>
        <p:nvSpPr>
          <p:cNvPr id="5" name="Text 1"/>
          <p:cNvSpPr/>
          <p:nvPr/>
        </p:nvSpPr>
        <p:spPr>
          <a:xfrm>
            <a:off x="766689" y="1503680"/>
            <a:ext cx="7658491" cy="2969260"/>
          </a:xfrm>
          <a:prstGeom prst="rect">
            <a:avLst/>
          </a:prstGeom>
          <a:noFill/>
        </p:spPr>
        <p:txBody>
          <a:bodyPr wrap="square" rtlCol="0" anchor="t"/>
          <a:lstStyle/>
          <a:p>
            <a:pPr marL="342900" indent="-34290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Computer Vision is a branch of Artificial Intelligence that enables computers to acquire, process, analysis, and interpret visual information from images and videos.</a:t>
            </a:r>
          </a:p>
          <a:p>
            <a:pPr marL="342900" indent="-34290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The Computer Vision pipeline consists of several interconnected stages, where each stage performs a specific task and passes its output to the next stage.</a:t>
            </a:r>
          </a:p>
          <a:p>
            <a:pPr marL="342900" indent="-34290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The performance of the entire system depends on how effectively these stages interact with one another. </a:t>
            </a:r>
          </a:p>
          <a:p>
            <a:pPr marL="342900" indent="-34290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Understanding these interactions helps in designing robust, accurate, and efficient vision systems for real-world applications.</a:t>
            </a:r>
            <a:endParaRPr lang="en-US" altLang="en-US" dirty="0">
              <a:latin typeface="Times New Roman" panose="02020603050405020304" pitchFamily="18" charset="0"/>
              <a:cs typeface="Times New Roman" panose="02020603050405020304" pitchFamily="18" charset="0"/>
            </a:endParaRPr>
          </a:p>
        </p:txBody>
      </p:sp>
      <p:pic>
        <p:nvPicPr>
          <p:cNvPr id="1028"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IMATS CGPA Calcula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16523" y="313006"/>
            <a:ext cx="8229600" cy="1079696"/>
          </a:xfrm>
          <a:prstGeom prst="rect">
            <a:avLst/>
          </a:prstGeom>
          <a:noFill/>
        </p:spPr>
        <p:txBody>
          <a:bodyPr wrap="square" rtlCol="0" anchor="ctr"/>
          <a:lstStyle/>
          <a:p>
            <a:pPr algn="ctr"/>
            <a:r>
              <a:rPr lang="en-IN" sz="2800" b="1" dirty="0">
                <a:latin typeface="Times New Roman" panose="02020603050405020304" pitchFamily="18" charset="0"/>
                <a:cs typeface="Times New Roman" panose="02020603050405020304" pitchFamily="18" charset="0"/>
              </a:rPr>
              <a:t>Computer Vision Pipeline</a:t>
            </a:r>
            <a:endParaRPr lang="en-IN" altLang="en-US" sz="2800" b="1" u="sng" dirty="0">
              <a:solidFill>
                <a:srgbClr val="002060"/>
              </a:solidFill>
              <a:latin typeface="Times New Roman" panose="02020603050405020304" pitchFamily="18" charset="0"/>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p:cNvGraphicFramePr>
            <a:graphicFrameLocks noGrp="1"/>
          </p:cNvGraphicFramePr>
          <p:nvPr/>
        </p:nvGraphicFramePr>
        <p:xfrm>
          <a:off x="1930498" y="4846320"/>
          <a:ext cx="5001650" cy="297180"/>
        </p:xfrm>
        <a:graphic>
          <a:graphicData uri="http://schemas.openxmlformats.org/drawingml/2006/table">
            <a:tbl>
              <a:tblPr>
                <a:tableStyleId>{073A0DAA-6AF3-43AB-8588-CEC1D06C72B9}</a:tableStyleId>
              </a:tblPr>
              <a:tblGrid>
                <a:gridCol w="609806">
                  <a:extLst>
                    <a:ext uri="{9D8B030D-6E8A-4147-A177-3AD203B41FA5}">
                      <a16:colId xmlns:a16="http://schemas.microsoft.com/office/drawing/2014/main" val="20000"/>
                    </a:ext>
                  </a:extLst>
                </a:gridCol>
                <a:gridCol w="1243271">
                  <a:extLst>
                    <a:ext uri="{9D8B030D-6E8A-4147-A177-3AD203B41FA5}">
                      <a16:colId xmlns:a16="http://schemas.microsoft.com/office/drawing/2014/main" val="20001"/>
                    </a:ext>
                  </a:extLst>
                </a:gridCol>
                <a:gridCol w="1316087">
                  <a:extLst>
                    <a:ext uri="{9D8B030D-6E8A-4147-A177-3AD203B41FA5}">
                      <a16:colId xmlns:a16="http://schemas.microsoft.com/office/drawing/2014/main" val="20002"/>
                    </a:ext>
                  </a:extLst>
                </a:gridCol>
                <a:gridCol w="1832486">
                  <a:extLst>
                    <a:ext uri="{9D8B030D-6E8A-4147-A177-3AD203B41FA5}">
                      <a16:colId xmlns:a16="http://schemas.microsoft.com/office/drawing/2014/main" val="20003"/>
                    </a:ext>
                  </a:extLst>
                </a:gridCol>
              </a:tblGrid>
              <a:tr h="0">
                <a:tc>
                  <a:txBody>
                    <a:bodyPr/>
                    <a:lstStyle/>
                    <a:p>
                      <a:endParaRPr lang="en-IN" dirty="0"/>
                    </a:p>
                  </a:txBody>
                  <a:tcPr/>
                </a:tc>
                <a:tc>
                  <a:txBody>
                    <a:bodyPr/>
                    <a:lstStyle/>
                    <a:p>
                      <a:endParaRPr lang="en-IN"/>
                    </a:p>
                  </a:txBody>
                  <a:tcPr anchor="ct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sp>
        <p:nvSpPr>
          <p:cNvPr id="2" name="TextBox 1"/>
          <p:cNvSpPr txBox="1"/>
          <p:nvPr/>
        </p:nvSpPr>
        <p:spPr>
          <a:xfrm>
            <a:off x="647700" y="1227894"/>
            <a:ext cx="7733665" cy="3139321"/>
          </a:xfrm>
          <a:prstGeom prst="rect">
            <a:avLst/>
          </a:prstGeom>
          <a:noFill/>
        </p:spPr>
        <p:txBody>
          <a:bodyPr wrap="square" rtlCol="0">
            <a:spAutoFit/>
          </a:bodyPr>
          <a:lstStyle/>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Computer Vision pipeline is a systematic sequence of operations that transforms a real-world scene into meaningful information. </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It begins with image acquisition, where visual data is captured using cameras or sensors. </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captured image is then preprocesses to remove noise and improve quality. Feature extraction identifies important image characteristics such as edges, corners, textures, and shapes.</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Segmentation divides the image into meaningful regions, followed by object detection and classification, where objects are recognized and assigned labels.</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Finally, the extracted information is used for decision-making in various applications.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60010" y="639825"/>
            <a:ext cx="7200897" cy="532544"/>
          </a:xfrm>
        </p:spPr>
        <p:txBody>
          <a:bodyPr>
            <a:normAutofit/>
          </a:bodyPr>
          <a:lstStyle/>
          <a:p>
            <a:r>
              <a:rPr lang="en-IN" sz="2800" b="1" dirty="0">
                <a:latin typeface="Times New Roman" panose="02020603050405020304" pitchFamily="18" charset="0"/>
                <a:cs typeface="Times New Roman" panose="02020603050405020304" pitchFamily="18" charset="0"/>
              </a:rPr>
              <a:t>Image Acquisition and Its Dependencies</a:t>
            </a:r>
            <a:endParaRPr lang="en-IN" sz="2800" b="1" u="sng"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AF5A71B3-99A7-4C14-A482-14D54FB923BE}" type="datetime6">
              <a:rPr lang="en-US" smtClean="0"/>
              <a:t>August 26</a:t>
            </a:fld>
            <a:endParaRPr lang="en-US"/>
          </a:p>
        </p:txBody>
      </p:sp>
      <p:pic>
        <p:nvPicPr>
          <p:cNvPr id="4"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38554" y="1519311"/>
            <a:ext cx="7512145" cy="3138170"/>
          </a:xfrm>
          <a:prstGeom prst="rect">
            <a:avLst/>
          </a:prstGeom>
          <a:noFill/>
        </p:spPr>
        <p:txBody>
          <a:bodyPr wrap="square" rtlCol="0">
            <a:spAutoFit/>
          </a:bodyPr>
          <a:lstStyle/>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Analog image acquisition is the process of capturing a real-world scene in the form of a continuous signal without converting it into discrete values. </a:t>
            </a: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 this method, light from the scene is sensed and directly transformed into an electrical signal that varies smoothly with intensity. </a:t>
            </a: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Unlike digital systems, analog acquisition does not involve sampling or quantization, so the image information remains continuous. </a:t>
            </a: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This results in smooth intensity variations but makes storage, processing, and analysis more difficult. </a:t>
            </a: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Analog image acquisition was commonly used in older systems such as film cameras and traditional CCTV cameras, and it forms the basic foundation for modern digital imaging systems.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320040"/>
            <a:ext cx="8229600" cy="822960"/>
          </a:xfrm>
          <a:prstGeom prst="rect">
            <a:avLst/>
          </a:prstGeom>
          <a:noFill/>
        </p:spPr>
        <p:txBody>
          <a:bodyPr wrap="square" rtlCol="0" anchor="ctr"/>
          <a:lstStyle/>
          <a:p>
            <a:pPr algn="ctr"/>
            <a:endParaRPr lang="en-IN" sz="3600" b="1" dirty="0"/>
          </a:p>
          <a:p>
            <a:pPr algn="ctr"/>
            <a:r>
              <a:rPr lang="en-IN" sz="2800" b="1" dirty="0">
                <a:latin typeface="Times New Roman" panose="02020603050405020304" pitchFamily="18" charset="0"/>
                <a:cs typeface="Times New Roman" panose="02020603050405020304" pitchFamily="18" charset="0"/>
              </a:rPr>
              <a:t>Image Preprocessing</a:t>
            </a:r>
          </a:p>
          <a:p>
            <a:pPr algn="ctr"/>
            <a:endPar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444" y="455099"/>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1185620" y="4068305"/>
            <a:ext cx="1298242" cy="261610"/>
          </a:xfrm>
          <a:prstGeom prst="rect">
            <a:avLst/>
          </a:prstGeom>
          <a:noFill/>
        </p:spPr>
        <p:txBody>
          <a:bodyPr wrap="square" rtlCol="0">
            <a:spAutoFit/>
          </a:bodyPr>
          <a:lstStyle/>
          <a:p>
            <a:endParaRPr lang="en-IN" sz="1100" dirty="0">
              <a:latin typeface="Times New Roman" panose="02020603050405020304" pitchFamily="18" charset="0"/>
              <a:cs typeface="Times New Roman" panose="02020603050405020304" pitchFamily="18" charset="0"/>
            </a:endParaRPr>
          </a:p>
        </p:txBody>
      </p:sp>
      <p:graphicFrame>
        <p:nvGraphicFramePr>
          <p:cNvPr id="7" name="Table 6"/>
          <p:cNvGraphicFramePr/>
          <p:nvPr>
            <p:extLst>
              <p:ext uri="{D42A27DB-BD31-4B8C-83A1-F6EECF244321}">
                <p14:modId xmlns:p14="http://schemas.microsoft.com/office/powerpoint/2010/main" val="2610192364"/>
              </p:ext>
            </p:extLst>
          </p:nvPr>
        </p:nvGraphicFramePr>
        <p:xfrm>
          <a:off x="1183640" y="1143000"/>
          <a:ext cx="6926580" cy="3479898"/>
        </p:xfrm>
        <a:graphic>
          <a:graphicData uri="http://schemas.openxmlformats.org/drawingml/2006/table">
            <a:tbl>
              <a:tblPr/>
              <a:tblGrid>
                <a:gridCol w="1731645">
                  <a:extLst>
                    <a:ext uri="{9D8B030D-6E8A-4147-A177-3AD203B41FA5}">
                      <a16:colId xmlns:a16="http://schemas.microsoft.com/office/drawing/2014/main" val="20000"/>
                    </a:ext>
                  </a:extLst>
                </a:gridCol>
                <a:gridCol w="1731645">
                  <a:extLst>
                    <a:ext uri="{9D8B030D-6E8A-4147-A177-3AD203B41FA5}">
                      <a16:colId xmlns:a16="http://schemas.microsoft.com/office/drawing/2014/main" val="20001"/>
                    </a:ext>
                  </a:extLst>
                </a:gridCol>
                <a:gridCol w="1731645">
                  <a:extLst>
                    <a:ext uri="{9D8B030D-6E8A-4147-A177-3AD203B41FA5}">
                      <a16:colId xmlns:a16="http://schemas.microsoft.com/office/drawing/2014/main" val="20002"/>
                    </a:ext>
                  </a:extLst>
                </a:gridCol>
                <a:gridCol w="1731645">
                  <a:extLst>
                    <a:ext uri="{9D8B030D-6E8A-4147-A177-3AD203B41FA5}">
                      <a16:colId xmlns:a16="http://schemas.microsoft.com/office/drawing/2014/main" val="20003"/>
                    </a:ext>
                  </a:extLst>
                </a:gridCol>
              </a:tblGrid>
              <a:tr h="254000">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903068">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508000">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r h="762000">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nchorCtr="1">
                    <a:lnL>
                      <a:noFill/>
                    </a:lnL>
                    <a:lnR>
                      <a:noFill/>
                    </a:lnR>
                    <a:lnT>
                      <a:noFill/>
                    </a:lnT>
                    <a:lnB>
                      <a:noFill/>
                    </a:lnB>
                    <a:noFill/>
                  </a:tcPr>
                </a:tc>
                <a:extLst>
                  <a:ext uri="{0D108BD9-81ED-4DB2-BD59-A6C34878D82A}">
                    <a16:rowId xmlns:a16="http://schemas.microsoft.com/office/drawing/2014/main" val="10003"/>
                  </a:ext>
                </a:extLst>
              </a:tr>
              <a:tr h="526415">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4"/>
                  </a:ext>
                </a:extLst>
              </a:tr>
              <a:tr h="526415">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endParaRPr sz="1100" b="1" dirty="0">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2" name="Text Box 1"/>
          <p:cNvSpPr txBox="1"/>
          <p:nvPr/>
        </p:nvSpPr>
        <p:spPr>
          <a:xfrm>
            <a:off x="773723" y="1290955"/>
            <a:ext cx="7357452" cy="3094355"/>
          </a:xfrm>
          <a:prstGeom prst="rect">
            <a:avLst/>
          </a:prstGeom>
        </p:spPr>
        <p:txBody>
          <a:bodyPr wrap="square">
            <a:noAutofit/>
          </a:bodyPr>
          <a:lstStyle/>
          <a:p>
            <a:r>
              <a:rPr lang="en-IN" dirty="0">
                <a:latin typeface="Times New Roman" panose="02020603050405020304" pitchFamily="18" charset="0"/>
                <a:cs typeface="Times New Roman" panose="02020603050405020304" pitchFamily="18" charset="0"/>
              </a:rPr>
              <a:t>Image preprocessing improves image quality before further analysis. It removes unwanted noise, corrects illumination problems, enhances contrast, and sharpens important details.</a:t>
            </a:r>
          </a:p>
          <a:p>
            <a:r>
              <a:rPr lang="en-IN" b="1" dirty="0">
                <a:latin typeface="Times New Roman" panose="02020603050405020304" pitchFamily="18" charset="0"/>
                <a:cs typeface="Times New Roman" panose="02020603050405020304" pitchFamily="18" charset="0"/>
              </a:rPr>
              <a:t>Common preprocessing techniques include:</a:t>
            </a:r>
          </a:p>
          <a:p>
            <a:pPr lvl="0"/>
            <a:r>
              <a:rPr lang="en-IN" dirty="0">
                <a:latin typeface="Times New Roman" panose="02020603050405020304" pitchFamily="18" charset="0"/>
                <a:cs typeface="Times New Roman" panose="02020603050405020304" pitchFamily="18" charset="0"/>
              </a:rPr>
              <a:t>Noise filtering </a:t>
            </a:r>
          </a:p>
          <a:p>
            <a:pPr lvl="0"/>
            <a:r>
              <a:rPr lang="en-IN" dirty="0">
                <a:latin typeface="Times New Roman" panose="02020603050405020304" pitchFamily="18" charset="0"/>
                <a:cs typeface="Times New Roman" panose="02020603050405020304" pitchFamily="18" charset="0"/>
              </a:rPr>
              <a:t>Histogram Equalization </a:t>
            </a:r>
          </a:p>
          <a:p>
            <a:pPr lvl="0"/>
            <a:r>
              <a:rPr lang="en-IN" dirty="0">
                <a:latin typeface="Times New Roman" panose="02020603050405020304" pitchFamily="18" charset="0"/>
                <a:cs typeface="Times New Roman" panose="02020603050405020304" pitchFamily="18" charset="0"/>
              </a:rPr>
              <a:t>Contrast Stretching </a:t>
            </a:r>
          </a:p>
          <a:p>
            <a:pPr lvl="0"/>
            <a:r>
              <a:rPr lang="en-IN" dirty="0">
                <a:latin typeface="Times New Roman" panose="02020603050405020304" pitchFamily="18" charset="0"/>
                <a:cs typeface="Times New Roman" panose="02020603050405020304" pitchFamily="18" charset="0"/>
              </a:rPr>
              <a:t>Gamma Correction </a:t>
            </a:r>
          </a:p>
          <a:p>
            <a:pPr lvl="0"/>
            <a:r>
              <a:rPr lang="en-IN" dirty="0">
                <a:latin typeface="Times New Roman" panose="02020603050405020304" pitchFamily="18" charset="0"/>
                <a:cs typeface="Times New Roman" panose="02020603050405020304" pitchFamily="18" charset="0"/>
              </a:rPr>
              <a:t>Image Sharpening </a:t>
            </a:r>
          </a:p>
          <a:p>
            <a:r>
              <a:rPr lang="en-IN" dirty="0">
                <a:latin typeface="Times New Roman" panose="02020603050405020304" pitchFamily="18" charset="0"/>
                <a:cs typeface="Times New Roman" panose="02020603050405020304" pitchFamily="18" charset="0"/>
              </a:rPr>
              <a:t>Preprocessing directly depends on the quality of the acquired image. If preprocessing is ineffective, feature extraction and segmentation accuracy decrease significantly.</a:t>
            </a:r>
          </a:p>
          <a:p>
            <a:pPr marL="285750" indent="-285750" algn="just">
              <a:buFont typeface="Wingdings" panose="05000000000000000000" charset="0"/>
              <a:buChar char="Ø"/>
            </a:pP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4622" y="3783965"/>
            <a:ext cx="8158283" cy="977900"/>
          </a:xfrm>
        </p:spPr>
        <p:txBody>
          <a:bodyPr/>
          <a:lstStyle/>
          <a:p>
            <a:pPr algn="l"/>
            <a:r>
              <a:rPr lang="en-IN" altLang="en-US" sz="2400" dirty="0"/>
              <a:t>      </a:t>
            </a:r>
            <a:r>
              <a:rPr lang="en-IN" sz="2000" dirty="0">
                <a:latin typeface="Times New Roman" panose="02020603050405020304" pitchFamily="18" charset="0"/>
                <a:cs typeface="Times New Roman" panose="02020603050405020304" pitchFamily="18" charset="0"/>
              </a:rPr>
              <a:t>Image Acquisition</a:t>
            </a:r>
            <a:endParaRPr lang="en-IN" altLang="en-US" sz="20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AF5A71B3-99A7-4C14-A482-14D54FB923BE}" type="datetime6">
              <a:rPr lang="en-US" smtClean="0"/>
              <a:t>August 26</a:t>
            </a:fld>
            <a:endParaRPr lang="en-US"/>
          </a:p>
        </p:txBody>
      </p:sp>
      <p:sp>
        <p:nvSpPr>
          <p:cNvPr id="6" name="Text Box 5"/>
          <p:cNvSpPr txBox="1"/>
          <p:nvPr/>
        </p:nvSpPr>
        <p:spPr>
          <a:xfrm>
            <a:off x="4953000" y="4137660"/>
            <a:ext cx="3279775"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Image Preprocessing</a:t>
            </a:r>
            <a:endParaRPr lang="en-US" sz="2000" dirty="0">
              <a:latin typeface="Times New Roman" panose="02020603050405020304" pitchFamily="18" charset="0"/>
              <a:cs typeface="Times New Roman" panose="02020603050405020304" pitchFamily="18" charset="0"/>
            </a:endParaRPr>
          </a:p>
        </p:txBody>
      </p:sp>
      <p:sp>
        <p:nvSpPr>
          <p:cNvPr id="7" name="Text Box 6"/>
          <p:cNvSpPr txBox="1"/>
          <p:nvPr/>
        </p:nvSpPr>
        <p:spPr>
          <a:xfrm>
            <a:off x="1209675" y="656590"/>
            <a:ext cx="6498590" cy="645160"/>
          </a:xfrm>
          <a:prstGeom prst="rect">
            <a:avLst/>
          </a:prstGeom>
          <a:noFill/>
        </p:spPr>
        <p:txBody>
          <a:bodyPr wrap="square" rtlCol="0">
            <a:spAutoFit/>
          </a:bodyPr>
          <a:lstStyle/>
          <a:p>
            <a:pPr algn="ctr"/>
            <a:r>
              <a:rPr lang="en-IN" altLang="en-US" sz="3600" b="1"/>
              <a:t>Examples</a:t>
            </a:r>
          </a:p>
        </p:txBody>
      </p:sp>
      <p:pic>
        <p:nvPicPr>
          <p:cNvPr id="8"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44" y="455099"/>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Just a moment...">
            <a:extLst>
              <a:ext uri="{FF2B5EF4-FFF2-40B4-BE49-F238E27FC236}">
                <a16:creationId xmlns:a16="http://schemas.microsoft.com/office/drawing/2014/main" id="{C87C0D87-237D-56AE-6B64-BFA804BF3CE2}"/>
              </a:ext>
            </a:extLst>
          </p:cNvPr>
          <p:cNvPicPr>
            <a:picLocks noChangeAspect="1"/>
          </p:cNvPicPr>
          <p:nvPr/>
        </p:nvPicPr>
        <p:blipFill>
          <a:blip r:embed="rId4"/>
          <a:stretch>
            <a:fillRect/>
          </a:stretch>
        </p:blipFill>
        <p:spPr>
          <a:xfrm>
            <a:off x="911225" y="1807698"/>
            <a:ext cx="3424566" cy="2034054"/>
          </a:xfrm>
          <a:prstGeom prst="rect">
            <a:avLst/>
          </a:prstGeom>
        </p:spPr>
      </p:pic>
      <p:pic>
        <p:nvPicPr>
          <p:cNvPr id="11" name="Picture 10" descr="What Are Image Histograms? | Baeldung on Computer Science">
            <a:extLst>
              <a:ext uri="{FF2B5EF4-FFF2-40B4-BE49-F238E27FC236}">
                <a16:creationId xmlns:a16="http://schemas.microsoft.com/office/drawing/2014/main" id="{E97AE0B1-20B1-D9F5-133E-5A37F5ED293C}"/>
              </a:ext>
            </a:extLst>
          </p:cNvPr>
          <p:cNvPicPr>
            <a:picLocks noChangeAspect="1"/>
          </p:cNvPicPr>
          <p:nvPr/>
        </p:nvPicPr>
        <p:blipFill>
          <a:blip r:embed="rId5"/>
          <a:stretch>
            <a:fillRect/>
          </a:stretch>
        </p:blipFill>
        <p:spPr>
          <a:xfrm>
            <a:off x="5320199" y="1586914"/>
            <a:ext cx="2545375" cy="23336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1035854" y="641545"/>
            <a:ext cx="7005711" cy="638224"/>
          </a:xfrm>
          <a:prstGeom prst="rect">
            <a:avLst/>
          </a:prstGeom>
          <a:noFill/>
        </p:spPr>
        <p:txBody>
          <a:bodyPr wrap="square" rtlCol="0" anchor="ctr"/>
          <a:lstStyle/>
          <a:p>
            <a:pPr algn="ctr"/>
            <a:r>
              <a:rPr lang="en-IN" sz="2800" b="1" dirty="0">
                <a:latin typeface="Times New Roman" panose="02020603050405020304" pitchFamily="18" charset="0"/>
                <a:cs typeface="Times New Roman" panose="02020603050405020304" pitchFamily="18" charset="0"/>
              </a:rPr>
              <a:t>Interactions Between Pipeline Stages</a:t>
            </a:r>
            <a:endParaRPr lang="en-IN" altLang="en-US" sz="2800" b="1"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808892" y="1310102"/>
            <a:ext cx="7542162" cy="914938"/>
          </a:xfrm>
          <a:prstGeom prst="rect">
            <a:avLst/>
          </a:prstGeom>
          <a:noFill/>
        </p:spPr>
        <p:txBody>
          <a:bodyPr wrap="square" rtlCol="0" anchor="t"/>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Each stage of the Computer Vision pipeline is strongly interconnected. The output generated by one stage serves as the input for the next stage.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Consequently, the performance of later stages depends entirely on the quality of previous processing.</a:t>
            </a:r>
          </a:p>
          <a:p>
            <a:r>
              <a:rPr lang="en-IN" b="1" dirty="0">
                <a:latin typeface="Times New Roman" panose="02020603050405020304" pitchFamily="18" charset="0"/>
                <a:cs typeface="Times New Roman" panose="02020603050405020304" pitchFamily="18" charset="0"/>
              </a:rPr>
              <a:t>For example:</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Poor image acquisition results in noisy images. </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Noisy images reduce preprocessing effectiveness. </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Poor preprocessing affects feature extraction. </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Weak features reduce segmentation accuracy. </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Incorrect segmentation causes object detection failures. </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Detection errors lead to incorrect classification.</a:t>
            </a:r>
          </a:p>
          <a:p>
            <a:pPr marL="285750" indent="-285750" algn="jus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p:txBody>
      </p:sp>
      <p:pic>
        <p:nvPicPr>
          <p:cNvPr id="2"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4"/>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1152732" y="598029"/>
            <a:ext cx="6679894" cy="822960"/>
          </a:xfrm>
          <a:prstGeom prst="rect">
            <a:avLst/>
          </a:prstGeom>
          <a:noFill/>
        </p:spPr>
        <p:txBody>
          <a:bodyPr wrap="square" rtlCol="0" anchor="ctr"/>
          <a:lstStyle/>
          <a:p>
            <a:pPr algn="ctr"/>
            <a:r>
              <a:rPr lang="en-IN" altLang="en-US" sz="2400" b="1" dirty="0">
                <a:latin typeface="Times New Roman" panose="02020603050405020304" pitchFamily="18" charset="0"/>
                <a:cs typeface="Times New Roman" panose="02020603050405020304" pitchFamily="18" charset="0"/>
              </a:rPr>
              <a:t>BLOCK DIAGRAM</a:t>
            </a:r>
            <a:endParaRPr lang="en-IN" altLang="en-US" sz="2400" b="1" u="sng" dirty="0">
              <a:solidFill>
                <a:srgbClr val="002060"/>
              </a:solidFill>
              <a:latin typeface="Times New Roman" panose="02020603050405020304" pitchFamily="18" charset="0"/>
              <a:cs typeface="Times New Roman" panose="02020603050405020304" pitchFamily="18" charset="0"/>
            </a:endParaRPr>
          </a:p>
        </p:txBody>
      </p:sp>
      <p:pic>
        <p:nvPicPr>
          <p:cNvPr id="2"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SIMATS CGPA Calcula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029" y="579463"/>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
          <p:cNvSpPr>
            <a:spLocks noChangeArrowheads="1"/>
          </p:cNvSpPr>
          <p:nvPr/>
        </p:nvSpPr>
        <p:spPr bwMode="auto">
          <a:xfrm>
            <a:off x="859814" y="2694177"/>
            <a:ext cx="77231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indent="0" algn="just" defTabSz="914400" eaLnBrk="0" fontAlgn="base" hangingPunct="0">
              <a:spcBef>
                <a:spcPct val="0"/>
              </a:spcBef>
              <a:spcAft>
                <a:spcPct val="0"/>
              </a:spcAft>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p:txBody>
      </p:sp>
      <p:pic>
        <p:nvPicPr>
          <p:cNvPr id="5" name="Picture 4" descr="Computer Vision Pipeline">
            <a:extLst>
              <a:ext uri="{FF2B5EF4-FFF2-40B4-BE49-F238E27FC236}">
                <a16:creationId xmlns:a16="http://schemas.microsoft.com/office/drawing/2014/main" id="{3B10D2A0-6A5C-BC8B-C1C7-00BD372787B0}"/>
              </a:ext>
            </a:extLst>
          </p:cNvPr>
          <p:cNvPicPr>
            <a:picLocks noChangeAspect="1"/>
          </p:cNvPicPr>
          <p:nvPr/>
        </p:nvPicPr>
        <p:blipFill>
          <a:blip r:embed="rId5"/>
          <a:stretch>
            <a:fillRect/>
          </a:stretch>
        </p:blipFill>
        <p:spPr>
          <a:xfrm>
            <a:off x="689317" y="1432781"/>
            <a:ext cx="7793502" cy="24801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09489" y="423839"/>
            <a:ext cx="8229600" cy="822960"/>
          </a:xfrm>
          <a:prstGeom prst="rect">
            <a:avLst/>
          </a:prstGeom>
          <a:noFill/>
        </p:spPr>
        <p:txBody>
          <a:bodyPr wrap="square" rtlCol="0" anchor="ctr"/>
          <a:lstStyle/>
          <a:p>
            <a:pPr algn="ctr"/>
            <a:r>
              <a:rPr lang="en-IN" sz="2800" b="1" dirty="0">
                <a:latin typeface="Times New Roman" panose="02020603050405020304" pitchFamily="18" charset="0"/>
                <a:cs typeface="Times New Roman" panose="02020603050405020304" pitchFamily="18" charset="0"/>
              </a:rPr>
              <a:t>Applications</a:t>
            </a:r>
            <a:endParaRPr lang="en-IN" altLang="en-US" sz="2800" b="1"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1366289" y="1350655"/>
            <a:ext cx="1681285" cy="369333"/>
          </a:xfrm>
          <a:prstGeom prst="rect">
            <a:avLst/>
          </a:prstGeom>
          <a:noFill/>
        </p:spPr>
        <p:txBody>
          <a:bodyPr wrap="square" rtlCol="0" anchor="t"/>
          <a:lstStyle/>
          <a:p>
            <a:endParaRPr lang="en-US" sz="1600" b="1" u="sng" dirty="0">
              <a:latin typeface="Times New Roman" panose="02020603050405020304" pitchFamily="18" charset="0"/>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683260" y="1488440"/>
            <a:ext cx="7312025" cy="2831544"/>
          </a:xfrm>
          <a:prstGeom prst="rect">
            <a:avLst/>
          </a:prstGeom>
        </p:spPr>
        <p:txBody>
          <a:bodyPr wrap="square">
            <a:spAutoFit/>
          </a:bodyPr>
          <a:lstStyle/>
          <a:p>
            <a:pPr marL="28575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The interaction between pipeline stages plays an important role in various real-world applications, including medical image analysis, autonomous vehicles, robotics, industrial quality inspection, satellite image analysis, agriculture, and biometric systems.</a:t>
            </a:r>
          </a:p>
          <a:p>
            <a:pPr marL="28575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However, several challenges affect pipeline performance, including image noise, uneven illumination, motion blur, occlusion, varying object scales, computational complexity, and real-time processing requirements. </a:t>
            </a:r>
          </a:p>
          <a:p>
            <a:pPr marL="28575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Addressing these challenges requires careful coordination between all stages of the Computer Vision pipeline.</a:t>
            </a:r>
          </a:p>
          <a:p>
            <a:pPr marL="285750" indent="-285750" algn="just">
              <a:buFont typeface="Wingdings" panose="05000000000000000000" charset="0"/>
              <a:buChar char="Ø"/>
            </a:pP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407962"/>
            <a:ext cx="8229600" cy="891371"/>
          </a:xfrm>
          <a:prstGeom prst="rect">
            <a:avLst/>
          </a:prstGeom>
          <a:noFill/>
        </p:spPr>
        <p:txBody>
          <a:bodyPr wrap="square" rtlCol="0" anchor="ctr"/>
          <a:lstStyle/>
          <a:p>
            <a:pPr algn="ctr"/>
            <a:endPar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26" y="463184"/>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3023870" y="942975"/>
            <a:ext cx="3048000" cy="583565"/>
          </a:xfrm>
          <a:prstGeom prst="rect">
            <a:avLst/>
          </a:prstGeom>
          <a:noFill/>
        </p:spPr>
        <p:txBody>
          <a:bodyPr wrap="square" rtlCol="0">
            <a:spAutoFit/>
          </a:bodyPr>
          <a:lstStyle/>
          <a:p>
            <a:r>
              <a:rPr lang="en-IN" altLang="en-US" sz="3200" b="1" dirty="0"/>
              <a:t>CONCLUSION</a:t>
            </a:r>
          </a:p>
        </p:txBody>
      </p:sp>
      <p:sp>
        <p:nvSpPr>
          <p:cNvPr id="5" name="Text Box 4"/>
          <p:cNvSpPr txBox="1"/>
          <p:nvPr/>
        </p:nvSpPr>
        <p:spPr>
          <a:xfrm>
            <a:off x="896620" y="1685290"/>
            <a:ext cx="7745095" cy="3139321"/>
          </a:xfrm>
          <a:prstGeom prst="rect">
            <a:avLst/>
          </a:prstGeom>
          <a:noFill/>
        </p:spPr>
        <p:txBody>
          <a:bodyPr wrap="square" rtlCol="0">
            <a:spAutoFit/>
          </a:bodyPr>
          <a:lstStyle/>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Computer Vision pipeline consists of multiple interconnected stages that work together to transform raw images into meaningful information.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Each stage depends on the successful completion of the previous stage, making their interactions critical for system performance.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 well-designed pipeline with effective dependencies improves image quality, feature extraction, segmentation, object recognition, and final decision-making.</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Understanding these interactions enables researchers and engineers to develop more accurate, reliable, and intelligent Computer Vision systems for a wide range of applications.</a:t>
            </a:r>
          </a:p>
          <a:p>
            <a:endParaRPr lang="en-IN" b="1" dirty="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5226" y="416197"/>
            <a:ext cx="8229600" cy="822960"/>
          </a:xfrm>
          <a:prstGeom prst="rect">
            <a:avLst/>
          </a:prstGeom>
          <a:noFill/>
        </p:spPr>
        <p:txBody>
          <a:bodyPr wrap="square" rtlCol="0" anchor="ctr"/>
          <a:lstStyle/>
          <a:p>
            <a:pPr algn="ctr"/>
            <a:r>
              <a:rPr lang="en-IN" altLang="en-US" sz="2400" b="1" dirty="0">
                <a:latin typeface="Times New Roman" panose="02020603050405020304" pitchFamily="18" charset="0"/>
                <a:ea typeface="Optima" pitchFamily="34" charset="-122"/>
                <a:cs typeface="Times New Roman" panose="02020603050405020304" pitchFamily="18" charset="0"/>
              </a:rPr>
              <a:t>CHALLENGES AND FUTURE WORKS</a:t>
            </a:r>
          </a:p>
        </p:txBody>
      </p:sp>
      <p:pic>
        <p:nvPicPr>
          <p:cNvPr id="4"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SIMATS CGPA Calcula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p:cNvSpPr>
            <a:spLocks noChangeArrowheads="1"/>
          </p:cNvSpPr>
          <p:nvPr/>
        </p:nvSpPr>
        <p:spPr bwMode="auto">
          <a:xfrm>
            <a:off x="643206" y="1377657"/>
            <a:ext cx="779100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algn="just" defTabSz="914400" eaLnBrk="0" fontAlgn="base" hangingPunct="0">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Computer Vision systems face several challenges, including poor image quality due to noise, blur, and low resolution, variations in lighting conditions, high computational complexity, object occlusion, and error propagation across different pipeline stages, all of which can reduce the accuracy and reliability of image analysis. </a:t>
            </a:r>
          </a:p>
          <a:p>
            <a:pPr marL="342900" lvl="0" indent="-342900" algn="just" defTabSz="914400" eaLnBrk="0" fontAlgn="base" hangingPunct="0">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address these challenges, future research focuses on developing advanced deep learning models for improved feature extraction and object recognition.</a:t>
            </a:r>
          </a:p>
          <a:p>
            <a:pPr marL="342900" lvl="0" indent="-342900" algn="just" defTabSz="914400" eaLnBrk="0" fontAlgn="base" hangingPunct="0">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Explainable Artificial Intelligence (XAI) to improve model transparency, and designing intelligent integrated visual frameworks with adaptive feedback mechanisms to optimize interactions between pipeline stages and enhance overall system performance.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3587" y="1830872"/>
            <a:ext cx="4904256" cy="786926"/>
          </a:xfrm>
        </p:spPr>
        <p:txBody>
          <a:bodyPr>
            <a:noAutofit/>
          </a:bodyPr>
          <a:lstStyle/>
          <a:p>
            <a:r>
              <a:rPr lang="en-IN" sz="8000" dirty="0">
                <a:solidFill>
                  <a:srgbClr val="002060"/>
                </a:solidFill>
                <a:latin typeface="Times New Roman" panose="02020603050405020304" pitchFamily="18" charset="0"/>
                <a:cs typeface="Times New Roman" panose="02020603050405020304" pitchFamily="18" charset="0"/>
              </a:rPr>
              <a:t>Thank you..</a:t>
            </a:r>
          </a:p>
        </p:txBody>
      </p:sp>
      <p:pic>
        <p:nvPicPr>
          <p:cNvPr id="5"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42</TotalTime>
  <Words>900</Words>
  <Application>Microsoft Office PowerPoint</Application>
  <PresentationFormat>On-screen Show (16:9)</PresentationFormat>
  <Paragraphs>79</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Garamond</vt:lpstr>
      <vt:lpstr>Times New Roman</vt:lpstr>
      <vt:lpstr>Wingdings</vt:lpstr>
      <vt:lpstr>Organic</vt:lpstr>
      <vt:lpstr>PowerPoint Presentation</vt:lpstr>
      <vt:lpstr>PowerPoint Presentation</vt:lpstr>
      <vt:lpstr>PowerPoint Presentation</vt:lpstr>
      <vt:lpstr>Image Acquisition and Its Dependencies</vt:lpstr>
      <vt:lpstr>PowerPoint Presentation</vt:lpstr>
      <vt:lpstr>      Image Acquisition</vt:lpstr>
      <vt:lpstr>PowerPoint Presentation</vt:lpstr>
      <vt:lpstr>PowerPoint Presentation</vt:lpstr>
      <vt:lpstr>PowerPoint Presentation</vt:lpstr>
      <vt:lpstr>PowerPoint Presentation</vt:lpstr>
      <vt:lpstr>PowerPoint Presentation</vt:lpstr>
      <vt:lpstr>Thank you..</vt:lpstr>
    </vt:vector>
  </TitlesOfParts>
  <Company>SlideMake.com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Analyze A Triple-Mode Calling Bell Using Transistors</dc:title>
  <dc:subject>Design And Analyze A Triple-Mode Calling Bell Using Transistors</dc:subject>
  <dc:creator>SlideMake.com</dc:creator>
  <cp:lastModifiedBy>pravallika pedanaboyina</cp:lastModifiedBy>
  <cp:revision>35</cp:revision>
  <dcterms:created xsi:type="dcterms:W3CDTF">2025-03-19T04:22:00Z</dcterms:created>
  <dcterms:modified xsi:type="dcterms:W3CDTF">2026-08-02T17:26:15Z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A4A97607ECAF46D4A256D848761C7FAB_13</vt:lpwstr>
  </property>
  <property fmtid="{D5CDD505-2E9C-101B-9397-08002B2CF9AE}" pid="3" name="KSOProductBuildVer">
    <vt:lpwstr>1033-12.1.0.27458</vt:lpwstr>
  </property>
</Properties>
</file>